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167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0060"/>
          </a:xfrm>
          <a:prstGeom prst="rect">
            <a:avLst/>
          </a:prstGeom>
        </p:spPr>
        <p:txBody>
          <a:bodyPr vert="horz" lIns="96660" tIns="48329" rIns="96660" bIns="48329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60" tIns="48329" rIns="96660" bIns="48329" rtlCol="0"/>
          <a:lstStyle>
            <a:lvl1pPr algn="r">
              <a:defRPr sz="1300"/>
            </a:lvl1pPr>
          </a:lstStyle>
          <a:p>
            <a:fld id="{4AD53C15-707C-4E65-8825-650C149BEFC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19474"/>
            <a:ext cx="3169920" cy="480060"/>
          </a:xfrm>
          <a:prstGeom prst="rect">
            <a:avLst/>
          </a:prstGeom>
        </p:spPr>
        <p:txBody>
          <a:bodyPr vert="horz" lIns="96660" tIns="48329" rIns="96660" bIns="48329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0" tIns="48329" rIns="96660" bIns="48329" rtlCol="0" anchor="b"/>
          <a:lstStyle>
            <a:lvl1pPr algn="r">
              <a:defRPr sz="1300"/>
            </a:lvl1pPr>
          </a:lstStyle>
          <a:p>
            <a:fld id="{C8A73503-E684-4A79-9244-420B426DC4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69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390" cy="480060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4220" y="1"/>
            <a:ext cx="3169390" cy="480060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r">
              <a:defRPr sz="1200"/>
            </a:lvl1pPr>
          </a:lstStyle>
          <a:p>
            <a:fld id="{B8EA5DD6-31C7-4F9E-9846-7D6042581A5A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77" tIns="45789" rIns="91577" bIns="457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1577" tIns="45789" rIns="91577" bIns="457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551"/>
            <a:ext cx="3169390" cy="480060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4220" y="9119551"/>
            <a:ext cx="3169390" cy="480060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r">
              <a:defRPr sz="1200"/>
            </a:lvl1pPr>
          </a:lstStyle>
          <a:p>
            <a:fld id="{CD4DF781-58EA-4BE1-A46C-EB7350DACC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762000" y="1575816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762000" y="3200400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-54"/>
            <a:ext cx="9144001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28888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04800" y="1447800"/>
            <a:ext cx="8628888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69A04FF-FD31-492E-BA10-973EF28FB568}" type="datetimeFigureOut">
              <a:rPr lang="en-US" smtClean="0"/>
              <a:pPr/>
              <a:t>10/21/2020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6991665-AAB0-4328-AEC1-C65BA4565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AutoShape 18"/>
          <p:cNvSpPr>
            <a:spLocks noChangeArrowheads="1"/>
          </p:cNvSpPr>
          <p:nvPr userDrawn="1"/>
        </p:nvSpPr>
        <p:spPr bwMode="auto">
          <a:xfrm>
            <a:off x="1219200" y="1219200"/>
            <a:ext cx="6629400" cy="76200"/>
          </a:xfrm>
          <a:custGeom>
            <a:avLst/>
            <a:gdLst>
              <a:gd name="G0" fmla="+- 555 0 0"/>
            </a:gdLst>
            <a:ahLst/>
            <a:cxnLst>
              <a:cxn ang="0">
                <a:pos x="0" y="0"/>
              </a:cxn>
              <a:cxn ang="0">
                <a:pos x="555" y="0"/>
              </a:cxn>
              <a:cxn ang="0">
                <a:pos x="55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55" y="0"/>
                </a:lnTo>
                <a:lnTo>
                  <a:pt x="55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3">
              <a:lumMod val="50000"/>
            </a:schemeClr>
          </a:solidFill>
          <a:ln w="9525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3">
            <a:lumMod val="50000"/>
          </a:schemeClr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3">
            <a:lumMod val="50000"/>
          </a:schemeClr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3">
            <a:lumMod val="50000"/>
          </a:schemeClr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>
            <a:lumMod val="50000"/>
          </a:schemeClr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3">
            <a:lumMod val="50000"/>
          </a:schemeClr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vinashk@eecs.ohio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05000"/>
            <a:ext cx="8534400" cy="1752600"/>
          </a:xfrm>
        </p:spPr>
        <p:txBody>
          <a:bodyPr>
            <a:noAutofit/>
          </a:bodyPr>
          <a:lstStyle/>
          <a:p>
            <a:pPr algn="ctr"/>
            <a:br>
              <a:rPr lang="en-US" sz="3600" dirty="0"/>
            </a:br>
            <a:r>
              <a:rPr lang="en-US" sz="3600" dirty="0"/>
              <a:t>EE 690: Interconnection Network for HPC Systems</a:t>
            </a:r>
            <a:br>
              <a:rPr lang="en-US" sz="3600" dirty="0"/>
            </a:br>
            <a:r>
              <a:rPr lang="en-US" sz="3600" dirty="0"/>
              <a:t>Introduction to YACSIM/NETSIM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343400"/>
            <a:ext cx="8610600" cy="20574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/>
              <a:t>Avinash Karanth</a:t>
            </a:r>
          </a:p>
          <a:p>
            <a:pPr algn="ctr"/>
            <a:r>
              <a:rPr lang="en-US" dirty="0"/>
              <a:t>Department of Electrical Engineering &amp; Computer Science</a:t>
            </a:r>
          </a:p>
          <a:p>
            <a:pPr algn="ctr"/>
            <a:r>
              <a:rPr lang="en-US" dirty="0"/>
              <a:t>Ohio University,  Athens, Ohio 45701</a:t>
            </a:r>
          </a:p>
          <a:p>
            <a:pPr algn="ctr"/>
            <a:r>
              <a:rPr lang="en-US" dirty="0"/>
              <a:t>E-mail: </a:t>
            </a:r>
            <a:r>
              <a:rPr lang="en-US" dirty="0">
                <a:hlinkClick r:id="rId2"/>
              </a:rPr>
              <a:t>karanth@ohio.edu</a:t>
            </a:r>
            <a:endParaRPr lang="en-US" dirty="0"/>
          </a:p>
          <a:p>
            <a:pPr algn="ctr"/>
            <a:r>
              <a:rPr lang="en-US" dirty="0"/>
              <a:t>Website: http://ace.cs.ohio.edu/~avinashk/classes/ee690/ee690.htm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776288" y="381000"/>
            <a:ext cx="7626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YACSIM: Discrete-event Simulator</a:t>
            </a: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1000" y="1600200"/>
            <a:ext cx="8374062" cy="393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YACSIM is a discrete-event simulation language based on C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Times New Roman" pitchFamily="18" charset="0"/>
              </a:rPr>
              <a:t>   programming language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YACSIM extensions to C are organized as a set of simulation objects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3 categories of objects: </a:t>
            </a:r>
            <a:r>
              <a:rPr lang="en-US" sz="2000" i="1" dirty="0">
                <a:latin typeface="Arial" charset="0"/>
                <a:cs typeface="Times New Roman" pitchFamily="18" charset="0"/>
              </a:rPr>
              <a:t>activities, queues and statistics records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endParaRPr lang="en-US" sz="20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Activities</a:t>
            </a:r>
            <a:r>
              <a:rPr lang="en-US" sz="2000" dirty="0">
                <a:latin typeface="Arial" charset="0"/>
                <a:cs typeface="Times New Roman" pitchFamily="18" charset="0"/>
              </a:rPr>
              <a:t>: active components of a simulation, account for passage of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Times New Roman" pitchFamily="18" charset="0"/>
              </a:rPr>
              <a:t>  time, modify the state of a simulation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Queues:</a:t>
            </a:r>
            <a:r>
              <a:rPr lang="en-US" sz="2000" dirty="0">
                <a:latin typeface="Arial" charset="0"/>
                <a:cs typeface="Times New Roman" pitchFamily="18" charset="0"/>
              </a:rPr>
              <a:t> Synchronization and model resources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Statistics Records:</a:t>
            </a:r>
            <a:r>
              <a:rPr lang="en-US" sz="2000" dirty="0">
                <a:latin typeface="Arial" charset="0"/>
                <a:cs typeface="Times New Roman" pitchFamily="18" charset="0"/>
              </a:rPr>
              <a:t> Collection, presentation of information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Times New Roman" pitchFamily="18" charset="0"/>
              </a:rPr>
              <a:t>  generated by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925513" y="76200"/>
            <a:ext cx="73723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Activities, Queues and Statistics </a:t>
            </a:r>
          </a:p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Records</a:t>
            </a: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595313" y="1524000"/>
            <a:ext cx="7253287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Processes &amp; Events: Activity of a simulated system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</a:t>
            </a:r>
            <a:r>
              <a:rPr lang="en-US" sz="2000" i="1" dirty="0">
                <a:latin typeface="Arial" charset="0"/>
                <a:cs typeface="Times New Roman" pitchFamily="18" charset="0"/>
              </a:rPr>
              <a:t>Event-driven</a:t>
            </a:r>
            <a:r>
              <a:rPr lang="en-US" sz="2000" dirty="0">
                <a:latin typeface="Arial" charset="0"/>
                <a:cs typeface="Times New Roman" pitchFamily="18" charset="0"/>
              </a:rPr>
              <a:t>: the only way to advance time is to schedule an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Times New Roman" pitchFamily="18" charset="0"/>
              </a:rPr>
              <a:t>  event to occur at some time in the future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</a:t>
            </a:r>
            <a:r>
              <a:rPr lang="en-US" sz="2000" i="1" dirty="0">
                <a:latin typeface="Arial" charset="0"/>
                <a:cs typeface="Times New Roman" pitchFamily="18" charset="0"/>
              </a:rPr>
              <a:t>Process-driven</a:t>
            </a:r>
            <a:r>
              <a:rPr lang="en-US" sz="2000" dirty="0">
                <a:latin typeface="Arial" charset="0"/>
                <a:cs typeface="Times New Roman" pitchFamily="18" charset="0"/>
              </a:rPr>
              <a:t>: the processes can account for the passage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Times New Roman" pitchFamily="18" charset="0"/>
              </a:rPr>
              <a:t>  of time by delaying themselves 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[Does not work in Cygwin]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Queues for synchronization: semaphores, barriers, flags and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Times New Roman" pitchFamily="18" charset="0"/>
              </a:rPr>
              <a:t>  conditions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Resources for modeling queues and servers, request service,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Times New Roman" pitchFamily="18" charset="0"/>
              </a:rPr>
              <a:t>  queuing discipline, </a:t>
            </a:r>
            <a:r>
              <a:rPr lang="en-US" sz="2000" dirty="0" err="1">
                <a:latin typeface="Arial" charset="0"/>
                <a:cs typeface="Times New Roman" pitchFamily="18" charset="0"/>
              </a:rPr>
              <a:t>etc</a:t>
            </a:r>
            <a:r>
              <a:rPr lang="en-US" sz="2000" dirty="0">
                <a:latin typeface="Arial" charset="0"/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Statistics Records: collect mean, standard deviation, </a:t>
            </a:r>
            <a:r>
              <a:rPr lang="en-US" sz="2000" dirty="0" err="1">
                <a:latin typeface="Arial" charset="0"/>
                <a:cs typeface="Times New Roman" pitchFamily="18" charset="0"/>
              </a:rPr>
              <a:t>etc</a:t>
            </a:r>
            <a:endParaRPr lang="en-US" sz="2000" dirty="0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2967038" y="457200"/>
            <a:ext cx="331372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Activities (1/3)</a:t>
            </a:r>
          </a:p>
        </p:txBody>
      </p:sp>
      <p:sp>
        <p:nvSpPr>
          <p:cNvPr id="139267" name="Text Box 3"/>
          <p:cNvSpPr txBox="1">
            <a:spLocks noChangeArrowheads="1"/>
          </p:cNvSpPr>
          <p:nvPr/>
        </p:nvSpPr>
        <p:spPr bwMode="auto">
          <a:xfrm>
            <a:off x="288925" y="1600200"/>
            <a:ext cx="8678979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Main difference between Process and Events: body of a 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process maybe temporarily suspended, while the body of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an event cannot. 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When an event is rescheduled, it will start from the beginning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of the body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Processes can have a lifetime that extends over a period</a:t>
            </a:r>
          </a:p>
          <a:p>
            <a:pPr eaLnBrk="1" hangingPunct="1"/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  of simulation time, where as events occur at one instant in</a:t>
            </a:r>
          </a:p>
          <a:p>
            <a:pPr eaLnBrk="1" hangingPunct="1"/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  simulation time</a:t>
            </a:r>
          </a:p>
          <a:p>
            <a:pPr eaLnBrk="1" hangingPunct="1"/>
            <a:endParaRPr lang="en-US" sz="2400" dirty="0">
              <a:solidFill>
                <a:srgbClr val="CC0000"/>
              </a:solidFill>
              <a:latin typeface="Arial" charset="0"/>
              <a:cs typeface="Times New Roman" pitchFamily="18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Do not use processes if running the code in Cygwin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212725" y="1524000"/>
            <a:ext cx="8550275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000">
                <a:latin typeface="Arial" charset="0"/>
                <a:cs typeface="Times New Roman" pitchFamily="18" charset="0"/>
              </a:rPr>
              <a:t> Schedule an activity to happen: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 - after a given time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 - when a given semaphore value is positive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 - when a given flag is set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 - when a given condition holds, or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 - after a requested amount of service from a resource</a:t>
            </a:r>
          </a:p>
          <a:p>
            <a:pPr eaLnBrk="1" hangingPunct="1"/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Schedule an activity from any part of the program that has access to the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activity, i.e. within the body of a process/event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	- Scheduling process may suspend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	- Link the scheduled activity with other activities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	- Schedule an independent activity </a:t>
            </a:r>
          </a:p>
          <a:p>
            <a:pPr eaLnBrk="1" hangingPunct="1"/>
            <a:endParaRPr lang="en-US" sz="20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000" dirty="0">
                <a:latin typeface="Arial" charset="0"/>
                <a:cs typeface="Times New Roman" pitchFamily="18" charset="0"/>
              </a:rPr>
              <a:t> Processes terminate when their bodies terminate, suspension is not</a:t>
            </a:r>
          </a:p>
          <a:p>
            <a:pPr eaLnBrk="1" hangingPunct="1"/>
            <a:r>
              <a:rPr lang="en-US" sz="2000" dirty="0">
                <a:latin typeface="Arial" charset="0"/>
                <a:cs typeface="Times New Roman" pitchFamily="18" charset="0"/>
              </a:rPr>
              <a:t>  termination</a:t>
            </a: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2967038" y="457200"/>
            <a:ext cx="3282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Activities (2/3)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Text Box 3"/>
          <p:cNvSpPr txBox="1">
            <a:spLocks noChangeArrowheads="1"/>
          </p:cNvSpPr>
          <p:nvPr/>
        </p:nvSpPr>
        <p:spPr bwMode="auto">
          <a:xfrm>
            <a:off x="304800" y="1600200"/>
            <a:ext cx="8437563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Arial" charset="0"/>
                <a:cs typeface="Times New Roman" pitchFamily="18" charset="0"/>
              </a:rPr>
              <a:t>Scheduling Operations:</a:t>
            </a: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ActivitySchedTime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aptr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timeinc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blkflg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aptr</a:t>
            </a:r>
            <a:r>
              <a:rPr lang="en-US" sz="2400" dirty="0">
                <a:latin typeface="Arial" charset="0"/>
                <a:cs typeface="Times New Roman" pitchFamily="18" charset="0"/>
              </a:rPr>
              <a:t> = argument that points to the activity </a:t>
            </a:r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(ACTIVITY *</a:t>
            </a:r>
            <a:r>
              <a:rPr lang="en-US" sz="2400" dirty="0" err="1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aptr</a:t>
            </a:r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timeinc</a:t>
            </a:r>
            <a:r>
              <a:rPr lang="en-US" sz="2400" dirty="0">
                <a:latin typeface="Arial" charset="0"/>
                <a:cs typeface="Times New Roman" pitchFamily="18" charset="0"/>
              </a:rPr>
              <a:t> = when should the scheduling start </a:t>
            </a:r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(double )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blkflg</a:t>
            </a:r>
            <a:r>
              <a:rPr lang="en-US" sz="2400" dirty="0">
                <a:latin typeface="Arial" charset="0"/>
                <a:cs typeface="Times New Roman" pitchFamily="18" charset="0"/>
              </a:rPr>
              <a:t> = INDEPENDENT, BLOCK, FORK </a:t>
            </a:r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(</a:t>
            </a:r>
            <a:r>
              <a:rPr lang="en-US" sz="2400" dirty="0" err="1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 )</a:t>
            </a:r>
          </a:p>
          <a:p>
            <a:pPr eaLnBrk="1" hangingPunct="1"/>
            <a:endParaRPr lang="en-US" sz="2400" dirty="0">
              <a:solidFill>
                <a:srgbClr val="CC0000"/>
              </a:solidFill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ActivitySchedSema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aptr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blkflg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ACTIVITY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ActivityArgSize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aptr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returns the size of the argument passed</a:t>
            </a: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2967038" y="533400"/>
            <a:ext cx="3282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Activities (3/3)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228600" y="1524000"/>
            <a:ext cx="8320088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i="1" dirty="0"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PROCESS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NewProcess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pname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bodyname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stksz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ProcessDelay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timeinc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ProcessSleep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()</a:t>
            </a:r>
          </a:p>
          <a:p>
            <a:pPr eaLnBrk="1" hangingPunct="1"/>
            <a:r>
              <a:rPr lang="en-US" sz="2400" i="1" dirty="0">
                <a:latin typeface="Arial" charset="0"/>
                <a:cs typeface="Times New Roman" pitchFamily="18" charset="0"/>
              </a:rPr>
              <a:t>  </a:t>
            </a:r>
            <a:r>
              <a:rPr lang="en-US" sz="2400" dirty="0">
                <a:latin typeface="Arial" charset="0"/>
                <a:cs typeface="Times New Roman" pitchFamily="18" charset="0"/>
              </a:rPr>
              <a:t>- Should make some other activity to schedule the sleeping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   process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ProcessSendMsg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dest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buf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bytes,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blkflg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type)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ProcessReceiveMsg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buf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bytes,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blkflg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type, sender)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ProcessCheckMsg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(type, sender)</a:t>
            </a:r>
            <a:endParaRPr lang="en-US" sz="2400" i="1" dirty="0">
              <a:cs typeface="Times New Roman" pitchFamily="18" charset="0"/>
            </a:endParaRP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3373438" y="457200"/>
            <a:ext cx="247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Processes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288925" y="1600200"/>
            <a:ext cx="7519988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i="1" dirty="0"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EVENT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NewEvent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ename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bodyname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delflg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etype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EventSetDelFlag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EventReschedTime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timeinc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stval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EventReschedSema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stval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EventSetState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stval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EventGetState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()</a:t>
            </a:r>
            <a:endParaRPr lang="en-US" sz="2400" i="1" dirty="0">
              <a:cs typeface="Times New Roman" pitchFamily="18" charset="0"/>
            </a:endParaRPr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3767138" y="457200"/>
            <a:ext cx="1682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398463" y="1447800"/>
            <a:ext cx="6154737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 SEMAPHORE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NewSemaphore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sname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/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 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SemaphoreSignal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 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SemaphoreSet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 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SemaphoreWait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 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SemaphoreDecr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 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SemaphoreValue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 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SemaphoreWaiting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</p:txBody>
      </p:sp>
      <p:sp>
        <p:nvSpPr>
          <p:cNvPr id="144388" name="Text Box 4"/>
          <p:cNvSpPr txBox="1">
            <a:spLocks noChangeArrowheads="1"/>
          </p:cNvSpPr>
          <p:nvPr/>
        </p:nvSpPr>
        <p:spPr bwMode="auto">
          <a:xfrm>
            <a:off x="3144838" y="425450"/>
            <a:ext cx="292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Semaphores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2"/>
          <p:cNvSpPr txBox="1">
            <a:spLocks noChangeArrowheads="1"/>
          </p:cNvSpPr>
          <p:nvPr/>
        </p:nvSpPr>
        <p:spPr bwMode="auto">
          <a:xfrm>
            <a:off x="2647950" y="381000"/>
            <a:ext cx="3968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Simulation Driver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228600" y="1600200"/>
            <a:ext cx="8221663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DriverRun</a:t>
            </a:r>
            <a:r>
              <a:rPr lang="en-US" sz="2400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timeinc</a:t>
            </a:r>
            <a:r>
              <a:rPr lang="en-US" sz="2400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This operation starts or restarts the simulation. Once, the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   user invokes this operation, the simulator will run for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  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timeinc</a:t>
            </a:r>
            <a:r>
              <a:rPr lang="en-US" sz="2400" dirty="0">
                <a:latin typeface="Arial" charset="0"/>
                <a:cs typeface="Times New Roman" pitchFamily="18" charset="0"/>
              </a:rPr>
              <a:t> units of simulation, until the event list is empty.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If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timeinc</a:t>
            </a:r>
            <a:r>
              <a:rPr lang="en-US" sz="2400" dirty="0">
                <a:latin typeface="Arial" charset="0"/>
                <a:cs typeface="Times New Roman" pitchFamily="18" charset="0"/>
              </a:rPr>
              <a:t> = 0.0, the simulator will run until the event list is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  empty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141288" y="457200"/>
            <a:ext cx="8591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NETSIM: A Network Simulation Library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212725" y="1600200"/>
            <a:ext cx="8577263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NETSIM can be used to construct and simulate a wide range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of network models, including direct and indirect networks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Interconnection networks are usually constructed from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switches</a:t>
            </a:r>
            <a:r>
              <a:rPr lang="en-US" sz="2400" dirty="0">
                <a:latin typeface="Arial" charset="0"/>
                <a:cs typeface="Times New Roman" pitchFamily="18" charset="0"/>
              </a:rPr>
              <a:t> and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links</a:t>
            </a:r>
          </a:p>
          <a:p>
            <a:pPr eaLnBrk="1" hangingPunct="1"/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Switch </a:t>
            </a:r>
            <a:r>
              <a:rPr lang="en-US" sz="2400" dirty="0">
                <a:latin typeface="Arial" charset="0"/>
                <a:cs typeface="Times New Roman" pitchFamily="18" charset="0"/>
              </a:rPr>
              <a:t>is a device with one or more input terminals that can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route data selectively from input terminals to output terminals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Links </a:t>
            </a:r>
            <a:r>
              <a:rPr lang="en-US" sz="2400" dirty="0">
                <a:latin typeface="Arial" charset="0"/>
                <a:cs typeface="Times New Roman" pitchFamily="18" charset="0"/>
              </a:rPr>
              <a:t>are communication channels used to connect switch 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output terminals to input terminals of other switches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/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228600" y="1524000"/>
            <a:ext cx="8686800" cy="495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Routing protocol </a:t>
            </a:r>
            <a:r>
              <a:rPr lang="en-US" sz="2400" dirty="0">
                <a:latin typeface="Arial" charset="0"/>
                <a:cs typeface="Times New Roman" pitchFamily="18" charset="0"/>
              </a:rPr>
              <a:t>is mechanism for controlling the movement</a:t>
            </a:r>
          </a:p>
          <a:p>
            <a:pPr eaLnBrk="1" hangingPunct="1">
              <a:lnSpc>
                <a:spcPct val="95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  of data through switches and links</a:t>
            </a:r>
          </a:p>
          <a:p>
            <a:pPr eaLnBrk="1" hangingPunct="1">
              <a:lnSpc>
                <a:spcPct val="95000"/>
              </a:lnSpc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Data is mostly organized into packets consisting of several</a:t>
            </a:r>
          </a:p>
          <a:p>
            <a:pPr eaLnBrk="1" hangingPunct="1">
              <a:lnSpc>
                <a:spcPct val="95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  smaller units of data called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flits</a:t>
            </a:r>
          </a:p>
          <a:p>
            <a:pPr eaLnBrk="1" hangingPunct="1">
              <a:lnSpc>
                <a:spcPct val="95000"/>
              </a:lnSpc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Flit </a:t>
            </a:r>
            <a:r>
              <a:rPr lang="en-US" sz="2400" dirty="0">
                <a:latin typeface="Arial" charset="0"/>
                <a:cs typeface="Times New Roman" pitchFamily="18" charset="0"/>
              </a:rPr>
              <a:t>is the smallest unit of data that can be transferred </a:t>
            </a:r>
          </a:p>
          <a:p>
            <a:pPr eaLnBrk="1" hangingPunct="1">
              <a:lnSpc>
                <a:spcPct val="95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  between two switches in a single cycle</a:t>
            </a:r>
          </a:p>
          <a:p>
            <a:pPr eaLnBrk="1" hangingPunct="1">
              <a:lnSpc>
                <a:spcPct val="95000"/>
              </a:lnSpc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Times New Roman" pitchFamily="18" charset="0"/>
              </a:rPr>
              <a:t>The first flit, called the head flit of a packet contains the</a:t>
            </a:r>
          </a:p>
          <a:p>
            <a:pPr eaLnBrk="1" hangingPunct="1">
              <a:lnSpc>
                <a:spcPct val="95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  routing information used by the switches to select output</a:t>
            </a:r>
          </a:p>
          <a:p>
            <a:pPr eaLnBrk="1" hangingPunct="1">
              <a:lnSpc>
                <a:spcPct val="95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  terminals</a:t>
            </a:r>
          </a:p>
          <a:p>
            <a:pPr eaLnBrk="1" hangingPunct="1">
              <a:lnSpc>
                <a:spcPct val="95000"/>
              </a:lnSpc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Times New Roman" pitchFamily="18" charset="0"/>
              </a:rPr>
              <a:t>The last flit is called the tail, it tears the path</a:t>
            </a:r>
            <a:endParaRPr lang="en-US" sz="2400" i="1" dirty="0">
              <a:latin typeface="Arial" charset="0"/>
              <a:cs typeface="Times New Roman" pitchFamily="18" charset="0"/>
            </a:endParaRP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3465513" y="457200"/>
            <a:ext cx="191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NETSIM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2482850" y="457200"/>
            <a:ext cx="3892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NETSIM Modules</a:t>
            </a:r>
          </a:p>
        </p:txBody>
      </p:sp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228600" y="1524000"/>
            <a:ext cx="7977188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200">
                <a:cs typeface="Times New Roman" pitchFamily="18" charset="0"/>
              </a:rPr>
              <a:t> </a:t>
            </a:r>
            <a:r>
              <a:rPr lang="en-US" sz="220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Multiplexers</a:t>
            </a:r>
            <a:r>
              <a:rPr lang="en-US" sz="2200">
                <a:latin typeface="Arial" charset="0"/>
                <a:cs typeface="Times New Roman" pitchFamily="18" charset="0"/>
              </a:rPr>
              <a:t>: Multiple input, single output modules. </a:t>
            </a:r>
            <a:r>
              <a:rPr lang="en-US" sz="2200" dirty="0">
                <a:latin typeface="Arial" charset="0"/>
                <a:cs typeface="Times New Roman" pitchFamily="18" charset="0"/>
              </a:rPr>
              <a:t>Resolves</a:t>
            </a:r>
          </a:p>
          <a:p>
            <a:pPr eaLnBrk="1" hangingPunct="1"/>
            <a:r>
              <a:rPr lang="en-US" sz="2200" dirty="0">
                <a:latin typeface="Arial" charset="0"/>
                <a:cs typeface="Times New Roman" pitchFamily="18" charset="0"/>
              </a:rPr>
              <a:t>  conflict when two of its input terminals have data to transfer</a:t>
            </a:r>
          </a:p>
          <a:p>
            <a:pPr eaLnBrk="1" hangingPunct="1"/>
            <a:r>
              <a:rPr lang="en-US" sz="2200" dirty="0">
                <a:latin typeface="Arial" charset="0"/>
                <a:cs typeface="Times New Roman" pitchFamily="18" charset="0"/>
              </a:rPr>
              <a:t>  to the same output terminal</a:t>
            </a:r>
          </a:p>
          <a:p>
            <a:pPr eaLnBrk="1" hangingPunct="1"/>
            <a:endParaRPr lang="en-US" sz="22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200" dirty="0">
                <a:latin typeface="Arial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Demultiplexers</a:t>
            </a:r>
            <a:r>
              <a:rPr lang="en-US" sz="2200" dirty="0">
                <a:latin typeface="Arial" charset="0"/>
                <a:cs typeface="Times New Roman" pitchFamily="18" charset="0"/>
              </a:rPr>
              <a:t>: Single input, </a:t>
            </a:r>
            <a:r>
              <a:rPr lang="en-US" sz="2200" dirty="0" err="1">
                <a:latin typeface="Arial" charset="0"/>
                <a:cs typeface="Times New Roman" pitchFamily="18" charset="0"/>
              </a:rPr>
              <a:t>mulitple</a:t>
            </a:r>
            <a:r>
              <a:rPr lang="en-US" sz="2200" dirty="0">
                <a:latin typeface="Arial" charset="0"/>
                <a:cs typeface="Times New Roman" pitchFamily="18" charset="0"/>
              </a:rPr>
              <a:t> output modules. Routes</a:t>
            </a:r>
          </a:p>
          <a:p>
            <a:pPr eaLnBrk="1" hangingPunct="1"/>
            <a:r>
              <a:rPr lang="en-US" sz="2200" dirty="0">
                <a:latin typeface="Arial" charset="0"/>
                <a:cs typeface="Times New Roman" pitchFamily="18" charset="0"/>
              </a:rPr>
              <a:t>  data along several paths, uses the head flit for determining</a:t>
            </a:r>
          </a:p>
          <a:p>
            <a:pPr eaLnBrk="1" hangingPunct="1"/>
            <a:r>
              <a:rPr lang="en-US" sz="2200" dirty="0">
                <a:latin typeface="Arial" charset="0"/>
                <a:cs typeface="Times New Roman" pitchFamily="18" charset="0"/>
              </a:rPr>
              <a:t>  routing information</a:t>
            </a:r>
          </a:p>
          <a:p>
            <a:pPr eaLnBrk="1" hangingPunct="1"/>
            <a:endParaRPr lang="en-US" sz="22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200" dirty="0">
                <a:latin typeface="Arial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Buffers</a:t>
            </a:r>
            <a:r>
              <a:rPr lang="en-US" sz="2200" dirty="0">
                <a:latin typeface="Arial" charset="0"/>
                <a:cs typeface="Times New Roman" pitchFamily="18" charset="0"/>
              </a:rPr>
              <a:t>: Temporary storage for flits </a:t>
            </a:r>
            <a:r>
              <a:rPr lang="en-US" sz="22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(not packets)</a:t>
            </a:r>
            <a:r>
              <a:rPr lang="en-US" sz="2200" dirty="0">
                <a:latin typeface="Arial" charset="0"/>
                <a:cs typeface="Times New Roman" pitchFamily="18" charset="0"/>
              </a:rPr>
              <a:t> as they</a:t>
            </a:r>
          </a:p>
          <a:p>
            <a:pPr eaLnBrk="1" hangingPunct="1"/>
            <a:r>
              <a:rPr lang="en-US" sz="2200" dirty="0">
                <a:latin typeface="Arial" charset="0"/>
                <a:cs typeface="Times New Roman" pitchFamily="18" charset="0"/>
              </a:rPr>
              <a:t>  move through the network, implemented as FIFO queues</a:t>
            </a:r>
          </a:p>
          <a:p>
            <a:pPr eaLnBrk="1" hangingPunct="1"/>
            <a:endParaRPr lang="en-US" sz="22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200" dirty="0">
                <a:latin typeface="Arial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Network Ports</a:t>
            </a:r>
            <a:r>
              <a:rPr lang="en-US" sz="2200" dirty="0">
                <a:latin typeface="Arial" charset="0"/>
                <a:cs typeface="Times New Roman" pitchFamily="18" charset="0"/>
              </a:rPr>
              <a:t>: Single input, single output modules, interface</a:t>
            </a:r>
          </a:p>
          <a:p>
            <a:pPr eaLnBrk="1" hangingPunct="1"/>
            <a:r>
              <a:rPr lang="en-US" sz="2200" dirty="0">
                <a:latin typeface="Arial" charset="0"/>
                <a:cs typeface="Times New Roman" pitchFamily="18" charset="0"/>
              </a:rPr>
              <a:t>  between a network and its external environment, Input Port</a:t>
            </a:r>
          </a:p>
          <a:p>
            <a:pPr eaLnBrk="1" hangingPunct="1"/>
            <a:r>
              <a:rPr lang="en-US" sz="2200" dirty="0">
                <a:latin typeface="Arial" charset="0"/>
                <a:cs typeface="Times New Roman" pitchFamily="18" charset="0"/>
              </a:rPr>
              <a:t>  and Output Port, </a:t>
            </a:r>
            <a:r>
              <a:rPr lang="en-US" sz="2200" dirty="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holds an entire packet</a:t>
            </a:r>
            <a:r>
              <a:rPr lang="en-US" sz="2200" dirty="0">
                <a:latin typeface="Arial" charset="0"/>
                <a:cs typeface="Times New Roman" pitchFamily="18" charset="0"/>
              </a:rPr>
              <a:t> </a:t>
            </a:r>
            <a:endParaRPr lang="en-US" sz="2200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1728788" y="457200"/>
            <a:ext cx="5416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NETSIM Implementation</a:t>
            </a: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152400" y="1447800"/>
            <a:ext cx="8937625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Data is sent through the network in the form of packets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consisting of several flits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Each packet contains routing information used by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demultiplexer</a:t>
            </a: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to route packets through the network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Each packet is implemented as 2 YACSIM events, one for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the front end or head of the packet and one for the rear or tail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of the packet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Head sets up the path, tail tears up the path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2216150" y="381000"/>
            <a:ext cx="445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NETSIM Operations</a:t>
            </a:r>
          </a:p>
        </p:txBody>
      </p:sp>
      <p:sp>
        <p:nvSpPr>
          <p:cNvPr id="150531" name="Text Box 3"/>
          <p:cNvSpPr txBox="1">
            <a:spLocks noChangeArrowheads="1"/>
          </p:cNvSpPr>
          <p:nvPr/>
        </p:nvSpPr>
        <p:spPr bwMode="auto">
          <a:xfrm>
            <a:off x="252413" y="1728788"/>
            <a:ext cx="7748587" cy="490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latin typeface="Arial" charset="0"/>
                <a:cs typeface="Times New Roman" pitchFamily="18" charset="0"/>
              </a:rPr>
              <a:t>BUFFER *NewBuffer(id, size)</a:t>
            </a:r>
          </a:p>
          <a:p>
            <a:pPr eaLnBrk="1" hangingPunct="1">
              <a:lnSpc>
                <a:spcPct val="95000"/>
              </a:lnSpc>
              <a:buFontTx/>
              <a:buChar char="•"/>
            </a:pPr>
            <a:endParaRPr lang="en-US" sz="2400" i="1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latin typeface="Arial" charset="0"/>
                <a:cs typeface="Times New Roman" pitchFamily="18" charset="0"/>
              </a:rPr>
              <a:t>MUX *NewMux(id, fanin)</a:t>
            </a:r>
          </a:p>
          <a:p>
            <a:pPr eaLnBrk="1" hangingPunct="1">
              <a:lnSpc>
                <a:spcPct val="95000"/>
              </a:lnSpc>
              <a:buFontTx/>
              <a:buChar char="•"/>
            </a:pPr>
            <a:endParaRPr lang="en-US" sz="2400" i="1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latin typeface="Arial" charset="0"/>
                <a:cs typeface="Times New Roman" pitchFamily="18" charset="0"/>
              </a:rPr>
              <a:t>DEMUX *NewDemux(id, fanout, routingfcn)</a:t>
            </a:r>
          </a:p>
          <a:p>
            <a:pPr eaLnBrk="1" hangingPunct="1">
              <a:lnSpc>
                <a:spcPct val="95000"/>
              </a:lnSpc>
            </a:pPr>
            <a:r>
              <a:rPr lang="en-US" sz="2400">
                <a:latin typeface="Arial" charset="0"/>
                <a:cs typeface="Times New Roman" pitchFamily="18" charset="0"/>
              </a:rPr>
              <a:t>  </a:t>
            </a:r>
            <a:r>
              <a:rPr lang="en-US" sz="200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- Arguments for routing function (src, dest, id)</a:t>
            </a:r>
          </a:p>
          <a:p>
            <a:pPr eaLnBrk="1" hangingPunct="1">
              <a:lnSpc>
                <a:spcPct val="95000"/>
              </a:lnSpc>
            </a:pPr>
            <a:endParaRPr lang="en-US" sz="2000">
              <a:solidFill>
                <a:srgbClr val="CC0000"/>
              </a:solidFill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latin typeface="Arial" charset="0"/>
                <a:cs typeface="Times New Roman" pitchFamily="18" charset="0"/>
              </a:rPr>
              <a:t>IPORT *NewIPort(id, size)</a:t>
            </a:r>
          </a:p>
          <a:p>
            <a:pPr eaLnBrk="1" hangingPunct="1">
              <a:lnSpc>
                <a:spcPct val="95000"/>
              </a:lnSpc>
              <a:buFontTx/>
              <a:buChar char="•"/>
            </a:pPr>
            <a:endParaRPr lang="en-US" sz="2400" i="1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latin typeface="Arial" charset="0"/>
                <a:cs typeface="Times New Roman" pitchFamily="18" charset="0"/>
              </a:rPr>
              <a:t>OPORT *NewOPort(id, size)</a:t>
            </a:r>
          </a:p>
          <a:p>
            <a:pPr eaLnBrk="1" hangingPunct="1">
              <a:lnSpc>
                <a:spcPct val="95000"/>
              </a:lnSpc>
              <a:buFontTx/>
              <a:buChar char="•"/>
            </a:pPr>
            <a:endParaRPr lang="en-US" sz="2400" i="1">
              <a:latin typeface="Arial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buFontTx/>
              <a:buChar char="•"/>
            </a:pP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latin typeface="Arial" charset="0"/>
                <a:cs typeface="Times New Roman" pitchFamily="18" charset="0"/>
              </a:rPr>
              <a:t>void NetworkConnect(src, dest, src_index, dest_index)</a:t>
            </a:r>
          </a:p>
          <a:p>
            <a:pPr eaLnBrk="1" hangingPunct="1">
              <a:lnSpc>
                <a:spcPct val="95000"/>
              </a:lnSpc>
            </a:pPr>
            <a:r>
              <a:rPr lang="en-US" sz="2400">
                <a:latin typeface="Arial" charset="0"/>
                <a:cs typeface="Times New Roman" pitchFamily="18" charset="0"/>
              </a:rPr>
              <a:t>   </a:t>
            </a:r>
            <a:r>
              <a:rPr lang="en-US" sz="200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- src_index used by demultiplexer to next module</a:t>
            </a:r>
          </a:p>
          <a:p>
            <a:pPr eaLnBrk="1" hangingPunct="1">
              <a:lnSpc>
                <a:spcPct val="95000"/>
              </a:lnSpc>
            </a:pPr>
            <a:r>
              <a:rPr lang="en-US" sz="2000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   - dest_index used by multiplexer to next module</a:t>
            </a:r>
            <a:r>
              <a:rPr lang="en-US" sz="2400">
                <a:latin typeface="Arial" charset="0"/>
                <a:cs typeface="Times New Roman" pitchFamily="18" charset="0"/>
              </a:rPr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629400" y="1828800"/>
            <a:ext cx="1981200" cy="304800"/>
            <a:chOff x="3744" y="672"/>
            <a:chExt cx="1248" cy="192"/>
          </a:xfrm>
        </p:grpSpPr>
        <p:sp>
          <p:nvSpPr>
            <p:cNvPr id="150533" name="Rectangle 5"/>
            <p:cNvSpPr>
              <a:spLocks noChangeArrowheads="1"/>
            </p:cNvSpPr>
            <p:nvPr/>
          </p:nvSpPr>
          <p:spPr bwMode="auto">
            <a:xfrm>
              <a:off x="4032" y="672"/>
              <a:ext cx="62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534" name="Line 6"/>
            <p:cNvSpPr>
              <a:spLocks noChangeShapeType="1"/>
            </p:cNvSpPr>
            <p:nvPr/>
          </p:nvSpPr>
          <p:spPr bwMode="auto">
            <a:xfrm>
              <a:off x="4656" y="76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535" name="Line 7"/>
            <p:cNvSpPr>
              <a:spLocks noChangeShapeType="1"/>
            </p:cNvSpPr>
            <p:nvPr/>
          </p:nvSpPr>
          <p:spPr bwMode="auto">
            <a:xfrm flipH="1">
              <a:off x="3744" y="7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934200" y="2438400"/>
            <a:ext cx="1371600" cy="381000"/>
            <a:chOff x="3936" y="1056"/>
            <a:chExt cx="864" cy="240"/>
          </a:xfrm>
        </p:grpSpPr>
        <p:sp>
          <p:nvSpPr>
            <p:cNvPr id="150537" name="AutoShape 9"/>
            <p:cNvSpPr>
              <a:spLocks noChangeArrowheads="1"/>
            </p:cNvSpPr>
            <p:nvPr/>
          </p:nvSpPr>
          <p:spPr bwMode="auto">
            <a:xfrm>
              <a:off x="4224" y="1056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538" name="Line 10"/>
            <p:cNvSpPr>
              <a:spLocks noChangeShapeType="1"/>
            </p:cNvSpPr>
            <p:nvPr/>
          </p:nvSpPr>
          <p:spPr bwMode="auto">
            <a:xfrm>
              <a:off x="3936" y="11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539" name="Line 11"/>
            <p:cNvSpPr>
              <a:spLocks noChangeShapeType="1"/>
            </p:cNvSpPr>
            <p:nvPr/>
          </p:nvSpPr>
          <p:spPr bwMode="auto">
            <a:xfrm>
              <a:off x="3936" y="124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540" name="Line 12"/>
            <p:cNvSpPr>
              <a:spLocks noChangeShapeType="1"/>
            </p:cNvSpPr>
            <p:nvPr/>
          </p:nvSpPr>
          <p:spPr bwMode="auto">
            <a:xfrm>
              <a:off x="4512" y="11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934200" y="3352800"/>
            <a:ext cx="1447800" cy="381000"/>
            <a:chOff x="4320" y="1632"/>
            <a:chExt cx="912" cy="240"/>
          </a:xfrm>
        </p:grpSpPr>
        <p:sp>
          <p:nvSpPr>
            <p:cNvPr id="150542" name="AutoShape 14"/>
            <p:cNvSpPr>
              <a:spLocks noChangeArrowheads="1"/>
            </p:cNvSpPr>
            <p:nvPr/>
          </p:nvSpPr>
          <p:spPr bwMode="auto">
            <a:xfrm rot="-10800000">
              <a:off x="4608" y="1632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543" name="Line 15"/>
            <p:cNvSpPr>
              <a:spLocks noChangeShapeType="1"/>
            </p:cNvSpPr>
            <p:nvPr/>
          </p:nvSpPr>
          <p:spPr bwMode="auto">
            <a:xfrm flipH="1">
              <a:off x="4320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544" name="Line 16"/>
            <p:cNvSpPr>
              <a:spLocks noChangeShapeType="1"/>
            </p:cNvSpPr>
            <p:nvPr/>
          </p:nvSpPr>
          <p:spPr bwMode="auto">
            <a:xfrm>
              <a:off x="4896" y="16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545" name="Line 17"/>
            <p:cNvSpPr>
              <a:spLocks noChangeShapeType="1"/>
            </p:cNvSpPr>
            <p:nvPr/>
          </p:nvSpPr>
          <p:spPr bwMode="auto">
            <a:xfrm>
              <a:off x="4896" y="18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7239000" y="4114800"/>
            <a:ext cx="1066800" cy="381000"/>
            <a:chOff x="3984" y="2112"/>
            <a:chExt cx="672" cy="240"/>
          </a:xfrm>
        </p:grpSpPr>
        <p:sp>
          <p:nvSpPr>
            <p:cNvPr id="150547" name="Line 19"/>
            <p:cNvSpPr>
              <a:spLocks noChangeShapeType="1"/>
            </p:cNvSpPr>
            <p:nvPr/>
          </p:nvSpPr>
          <p:spPr bwMode="auto">
            <a:xfrm>
              <a:off x="3984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548" name="AutoShape 20"/>
            <p:cNvSpPr>
              <a:spLocks noChangeArrowheads="1"/>
            </p:cNvSpPr>
            <p:nvPr/>
          </p:nvSpPr>
          <p:spPr bwMode="auto">
            <a:xfrm rot="-10800000">
              <a:off x="4128" y="2112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549" name="Line 21"/>
            <p:cNvSpPr>
              <a:spLocks noChangeShapeType="1"/>
            </p:cNvSpPr>
            <p:nvPr/>
          </p:nvSpPr>
          <p:spPr bwMode="auto">
            <a:xfrm>
              <a:off x="4416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7239000" y="4953000"/>
            <a:ext cx="1143000" cy="381000"/>
            <a:chOff x="3936" y="2640"/>
            <a:chExt cx="720" cy="240"/>
          </a:xfrm>
        </p:grpSpPr>
        <p:sp>
          <p:nvSpPr>
            <p:cNvPr id="150551" name="AutoShape 23"/>
            <p:cNvSpPr>
              <a:spLocks noChangeArrowheads="1"/>
            </p:cNvSpPr>
            <p:nvPr/>
          </p:nvSpPr>
          <p:spPr bwMode="auto">
            <a:xfrm>
              <a:off x="4176" y="2640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552" name="Line 24"/>
            <p:cNvSpPr>
              <a:spLocks noChangeShapeType="1"/>
            </p:cNvSpPr>
            <p:nvPr/>
          </p:nvSpPr>
          <p:spPr bwMode="auto">
            <a:xfrm flipH="1">
              <a:off x="3936" y="27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553" name="Line 25"/>
            <p:cNvSpPr>
              <a:spLocks noChangeShapeType="1"/>
            </p:cNvSpPr>
            <p:nvPr/>
          </p:nvSpPr>
          <p:spPr bwMode="auto">
            <a:xfrm>
              <a:off x="4464" y="27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2652713" y="381000"/>
            <a:ext cx="3587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Network Delays</a:t>
            </a:r>
          </a:p>
        </p:txBody>
      </p:sp>
      <p:sp>
        <p:nvSpPr>
          <p:cNvPr id="151555" name="Text Box 3"/>
          <p:cNvSpPr txBox="1">
            <a:spLocks noChangeArrowheads="1"/>
          </p:cNvSpPr>
          <p:nvPr/>
        </p:nvSpPr>
        <p:spPr bwMode="auto">
          <a:xfrm>
            <a:off x="288925" y="1600200"/>
            <a:ext cx="823595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NetworkSetCycleTime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(x)</a:t>
            </a:r>
            <a:r>
              <a:rPr lang="en-US" sz="2400" dirty="0">
                <a:latin typeface="Arial" charset="0"/>
                <a:cs typeface="Times New Roman" pitchFamily="18" charset="0"/>
              </a:rPr>
              <a:t> – System cycle time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NetworkSetFlitDelay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(d)</a:t>
            </a:r>
            <a:r>
              <a:rPr lang="en-US" sz="2400" dirty="0">
                <a:latin typeface="Arial" charset="0"/>
                <a:cs typeface="Times New Roman" pitchFamily="18" charset="0"/>
              </a:rPr>
              <a:t> – From buffer to buffer or port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NetworkSetMuxDelay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(d)</a:t>
            </a:r>
            <a:r>
              <a:rPr lang="en-US" sz="2400" dirty="0">
                <a:latin typeface="Arial" charset="0"/>
                <a:cs typeface="Times New Roman" pitchFamily="18" charset="0"/>
              </a:rPr>
              <a:t> –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Mux</a:t>
            </a:r>
            <a:r>
              <a:rPr lang="en-US" sz="2400" dirty="0">
                <a:latin typeface="Arial" charset="0"/>
                <a:cs typeface="Times New Roman" pitchFamily="18" charset="0"/>
              </a:rPr>
              <a:t> switching delay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NetworkSetDemuxDelay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(d)</a:t>
            </a:r>
            <a:r>
              <a:rPr lang="en-US" sz="2400" dirty="0">
                <a:latin typeface="Arial" charset="0"/>
                <a:cs typeface="Times New Roman" pitchFamily="18" charset="0"/>
              </a:rPr>
              <a:t> – Execute the routing fn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NetworkSetPktDelay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(d)</a:t>
            </a:r>
            <a:r>
              <a:rPr lang="en-US" sz="2400" dirty="0">
                <a:latin typeface="Arial" charset="0"/>
                <a:cs typeface="Times New Roman" pitchFamily="18" charset="0"/>
              </a:rPr>
              <a:t> – Time to move a packet into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an input port or output port</a:t>
            </a:r>
          </a:p>
          <a:p>
            <a:pPr eaLnBrk="1" hangingPunct="1"/>
            <a:endParaRPr lang="en-US" sz="2400" dirty="0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2357438" y="457200"/>
            <a:ext cx="419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Packet Operations</a:t>
            </a:r>
          </a:p>
        </p:txBody>
      </p:sp>
      <p:sp>
        <p:nvSpPr>
          <p:cNvPr id="152579" name="Text Box 3"/>
          <p:cNvSpPr txBox="1">
            <a:spLocks noChangeArrowheads="1"/>
          </p:cNvSpPr>
          <p:nvPr/>
        </p:nvSpPr>
        <p:spPr bwMode="auto">
          <a:xfrm>
            <a:off x="304800" y="1676400"/>
            <a:ext cx="750570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PACKET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NewPacket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seqno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msgptr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size,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src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,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dest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double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PacketSend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pkt,port,src,dest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PACKET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PacketReceive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(port)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PKTDATA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PacketGetData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pkt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PacketFree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pkt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525463" y="381000"/>
            <a:ext cx="7880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Packet Synchronization Operations</a:t>
            </a: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365125" y="1676400"/>
            <a:ext cx="559435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SEMAPHORE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IPortSemaphore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(port)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IportSpace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(port)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SEMAPHORE *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OportSemaphore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(port)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OportPackets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(port)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IportGetId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(port)</a:t>
            </a:r>
          </a:p>
          <a:p>
            <a:pPr eaLnBrk="1" hangingPunct="1">
              <a:buFontTx/>
              <a:buChar char="•"/>
            </a:pPr>
            <a:endParaRPr lang="en-US" sz="2400" i="1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OportGetId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(port)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2403475" y="457200"/>
            <a:ext cx="4146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Network Statistics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152400" y="1447800"/>
            <a:ext cx="8607425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NETTIME: time a packet spends in a network, packet latency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BLKTIME: time blocked in the network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OPORTTIME: time spent in </a:t>
            </a:r>
            <a:r>
              <a:rPr lang="en-US" sz="2400" dirty="0" err="1">
                <a:latin typeface="Arial" charset="0"/>
                <a:cs typeface="Times New Roman" pitchFamily="18" charset="0"/>
              </a:rPr>
              <a:t>oport</a:t>
            </a: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MOVETIME = NETTIME – BLKTIME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CREATETIME: time packet was created</a:t>
            </a:r>
          </a:p>
          <a:p>
            <a:pPr eaLnBrk="1" hangingPunct="1">
              <a:buFontTx/>
              <a:buChar char="•"/>
            </a:pPr>
            <a:endParaRPr lang="en-US" sz="2400" dirty="0">
              <a:latin typeface="Arial" charset="0"/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sz="2400" dirty="0">
                <a:latin typeface="Arial" charset="0"/>
                <a:cs typeface="Times New Roman" pitchFamily="18" charset="0"/>
              </a:rPr>
              <a:t> 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void </a:t>
            </a:r>
            <a:r>
              <a:rPr lang="en-US" sz="2400" i="1" dirty="0" err="1">
                <a:latin typeface="Arial" charset="0"/>
                <a:cs typeface="Times New Roman" pitchFamily="18" charset="0"/>
              </a:rPr>
              <a:t>NetworkStatRept</a:t>
            </a:r>
            <a:r>
              <a:rPr lang="en-US" sz="2400" i="1" dirty="0">
                <a:latin typeface="Arial" charset="0"/>
                <a:cs typeface="Times New Roman" pitchFamily="18" charset="0"/>
              </a:rPr>
              <a:t>()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Network throughput</a:t>
            </a:r>
          </a:p>
          <a:p>
            <a:pPr eaLnBrk="1" hangingPunct="1"/>
            <a:r>
              <a:rPr lang="en-US" sz="2400" dirty="0">
                <a:latin typeface="Arial" charset="0"/>
                <a:cs typeface="Times New Roman" pitchFamily="18" charset="0"/>
              </a:rPr>
              <a:t>  - Average latency, etc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1770063" y="457200"/>
            <a:ext cx="544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dirty="0">
                <a:solidFill>
                  <a:srgbClr val="C00000"/>
                </a:solidFill>
                <a:latin typeface="Arial" charset="0"/>
                <a:cs typeface="Times New Roman" pitchFamily="18" charset="0"/>
              </a:rPr>
              <a:t>Simple Example: Switch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066800" y="3719513"/>
            <a:ext cx="1066800" cy="381000"/>
            <a:chOff x="3984" y="2112"/>
            <a:chExt cx="672" cy="240"/>
          </a:xfrm>
        </p:grpSpPr>
        <p:sp>
          <p:nvSpPr>
            <p:cNvPr id="155652" name="Line 4"/>
            <p:cNvSpPr>
              <a:spLocks noChangeShapeType="1"/>
            </p:cNvSpPr>
            <p:nvPr/>
          </p:nvSpPr>
          <p:spPr bwMode="auto">
            <a:xfrm>
              <a:off x="3984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53" name="AutoShape 5"/>
            <p:cNvSpPr>
              <a:spLocks noChangeArrowheads="1"/>
            </p:cNvSpPr>
            <p:nvPr/>
          </p:nvSpPr>
          <p:spPr bwMode="auto">
            <a:xfrm rot="-10800000">
              <a:off x="4128" y="2112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54" name="Line 6"/>
            <p:cNvSpPr>
              <a:spLocks noChangeShapeType="1"/>
            </p:cNvSpPr>
            <p:nvPr/>
          </p:nvSpPr>
          <p:spPr bwMode="auto">
            <a:xfrm>
              <a:off x="4416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257800" y="2576513"/>
            <a:ext cx="1600200" cy="304800"/>
            <a:chOff x="3744" y="672"/>
            <a:chExt cx="1248" cy="192"/>
          </a:xfrm>
        </p:grpSpPr>
        <p:sp>
          <p:nvSpPr>
            <p:cNvPr id="155656" name="Rectangle 8"/>
            <p:cNvSpPr>
              <a:spLocks noChangeArrowheads="1"/>
            </p:cNvSpPr>
            <p:nvPr/>
          </p:nvSpPr>
          <p:spPr bwMode="auto">
            <a:xfrm>
              <a:off x="4032" y="672"/>
              <a:ext cx="62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57" name="Line 9"/>
            <p:cNvSpPr>
              <a:spLocks noChangeShapeType="1"/>
            </p:cNvSpPr>
            <p:nvPr/>
          </p:nvSpPr>
          <p:spPr bwMode="auto">
            <a:xfrm>
              <a:off x="4656" y="76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58" name="Line 10"/>
            <p:cNvSpPr>
              <a:spLocks noChangeShapeType="1"/>
            </p:cNvSpPr>
            <p:nvPr/>
          </p:nvSpPr>
          <p:spPr bwMode="auto">
            <a:xfrm flipH="1">
              <a:off x="3744" y="7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514600" y="3109913"/>
            <a:ext cx="1371600" cy="381000"/>
            <a:chOff x="3936" y="1056"/>
            <a:chExt cx="864" cy="240"/>
          </a:xfrm>
        </p:grpSpPr>
        <p:sp>
          <p:nvSpPr>
            <p:cNvPr id="155660" name="AutoShape 12"/>
            <p:cNvSpPr>
              <a:spLocks noChangeArrowheads="1"/>
            </p:cNvSpPr>
            <p:nvPr/>
          </p:nvSpPr>
          <p:spPr bwMode="auto">
            <a:xfrm>
              <a:off x="4224" y="1056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61" name="Line 13"/>
            <p:cNvSpPr>
              <a:spLocks noChangeShapeType="1"/>
            </p:cNvSpPr>
            <p:nvPr/>
          </p:nvSpPr>
          <p:spPr bwMode="auto">
            <a:xfrm>
              <a:off x="3936" y="11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62" name="Line 14"/>
            <p:cNvSpPr>
              <a:spLocks noChangeShapeType="1"/>
            </p:cNvSpPr>
            <p:nvPr/>
          </p:nvSpPr>
          <p:spPr bwMode="auto">
            <a:xfrm>
              <a:off x="3936" y="124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63" name="Line 15"/>
            <p:cNvSpPr>
              <a:spLocks noChangeShapeType="1"/>
            </p:cNvSpPr>
            <p:nvPr/>
          </p:nvSpPr>
          <p:spPr bwMode="auto">
            <a:xfrm>
              <a:off x="4512" y="11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810000" y="3033713"/>
            <a:ext cx="1447800" cy="381000"/>
            <a:chOff x="4320" y="1632"/>
            <a:chExt cx="912" cy="240"/>
          </a:xfrm>
        </p:grpSpPr>
        <p:sp>
          <p:nvSpPr>
            <p:cNvPr id="155665" name="AutoShape 17"/>
            <p:cNvSpPr>
              <a:spLocks noChangeArrowheads="1"/>
            </p:cNvSpPr>
            <p:nvPr/>
          </p:nvSpPr>
          <p:spPr bwMode="auto">
            <a:xfrm rot="-10800000">
              <a:off x="4608" y="1632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66" name="Line 18"/>
            <p:cNvSpPr>
              <a:spLocks noChangeShapeType="1"/>
            </p:cNvSpPr>
            <p:nvPr/>
          </p:nvSpPr>
          <p:spPr bwMode="auto">
            <a:xfrm flipH="1">
              <a:off x="4320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67" name="Line 19"/>
            <p:cNvSpPr>
              <a:spLocks noChangeShapeType="1"/>
            </p:cNvSpPr>
            <p:nvPr/>
          </p:nvSpPr>
          <p:spPr bwMode="auto">
            <a:xfrm>
              <a:off x="4896" y="16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68" name="Line 20"/>
            <p:cNvSpPr>
              <a:spLocks noChangeShapeType="1"/>
            </p:cNvSpPr>
            <p:nvPr/>
          </p:nvSpPr>
          <p:spPr bwMode="auto">
            <a:xfrm>
              <a:off x="4896" y="18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066800" y="2576513"/>
            <a:ext cx="1066800" cy="381000"/>
            <a:chOff x="3984" y="2112"/>
            <a:chExt cx="672" cy="240"/>
          </a:xfrm>
        </p:grpSpPr>
        <p:sp>
          <p:nvSpPr>
            <p:cNvPr id="155670" name="Line 22"/>
            <p:cNvSpPr>
              <a:spLocks noChangeShapeType="1"/>
            </p:cNvSpPr>
            <p:nvPr/>
          </p:nvSpPr>
          <p:spPr bwMode="auto">
            <a:xfrm>
              <a:off x="3984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71" name="AutoShape 23"/>
            <p:cNvSpPr>
              <a:spLocks noChangeArrowheads="1"/>
            </p:cNvSpPr>
            <p:nvPr/>
          </p:nvSpPr>
          <p:spPr bwMode="auto">
            <a:xfrm rot="-10800000">
              <a:off x="4128" y="2112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72" name="Line 24"/>
            <p:cNvSpPr>
              <a:spLocks noChangeShapeType="1"/>
            </p:cNvSpPr>
            <p:nvPr/>
          </p:nvSpPr>
          <p:spPr bwMode="auto">
            <a:xfrm>
              <a:off x="4416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6781800" y="3490913"/>
            <a:ext cx="1143000" cy="381000"/>
            <a:chOff x="3936" y="2640"/>
            <a:chExt cx="720" cy="240"/>
          </a:xfrm>
        </p:grpSpPr>
        <p:sp>
          <p:nvSpPr>
            <p:cNvPr id="155674" name="AutoShape 26"/>
            <p:cNvSpPr>
              <a:spLocks noChangeArrowheads="1"/>
            </p:cNvSpPr>
            <p:nvPr/>
          </p:nvSpPr>
          <p:spPr bwMode="auto">
            <a:xfrm>
              <a:off x="4176" y="2640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75" name="Line 27"/>
            <p:cNvSpPr>
              <a:spLocks noChangeShapeType="1"/>
            </p:cNvSpPr>
            <p:nvPr/>
          </p:nvSpPr>
          <p:spPr bwMode="auto">
            <a:xfrm flipH="1">
              <a:off x="3936" y="27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76" name="Line 28"/>
            <p:cNvSpPr>
              <a:spLocks noChangeShapeType="1"/>
            </p:cNvSpPr>
            <p:nvPr/>
          </p:nvSpPr>
          <p:spPr bwMode="auto">
            <a:xfrm>
              <a:off x="4464" y="27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677" name="Line 29"/>
          <p:cNvSpPr>
            <a:spLocks noChangeShapeType="1"/>
          </p:cNvSpPr>
          <p:nvPr/>
        </p:nvSpPr>
        <p:spPr bwMode="auto">
          <a:xfrm>
            <a:off x="2133600" y="27289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678" name="Line 30"/>
          <p:cNvSpPr>
            <a:spLocks noChangeShapeType="1"/>
          </p:cNvSpPr>
          <p:nvPr/>
        </p:nvSpPr>
        <p:spPr bwMode="auto">
          <a:xfrm>
            <a:off x="2133600" y="31861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679" name="Line 31"/>
          <p:cNvSpPr>
            <a:spLocks noChangeShapeType="1"/>
          </p:cNvSpPr>
          <p:nvPr/>
        </p:nvSpPr>
        <p:spPr bwMode="auto">
          <a:xfrm flipV="1">
            <a:off x="2133600" y="34147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680" name="Line 32"/>
          <p:cNvSpPr>
            <a:spLocks noChangeShapeType="1"/>
          </p:cNvSpPr>
          <p:nvPr/>
        </p:nvSpPr>
        <p:spPr bwMode="auto">
          <a:xfrm>
            <a:off x="2133600" y="34147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5257800" y="3567113"/>
            <a:ext cx="1600200" cy="304800"/>
            <a:chOff x="3744" y="672"/>
            <a:chExt cx="1248" cy="192"/>
          </a:xfrm>
        </p:grpSpPr>
        <p:sp>
          <p:nvSpPr>
            <p:cNvPr id="155682" name="Rectangle 34"/>
            <p:cNvSpPr>
              <a:spLocks noChangeArrowheads="1"/>
            </p:cNvSpPr>
            <p:nvPr/>
          </p:nvSpPr>
          <p:spPr bwMode="auto">
            <a:xfrm>
              <a:off x="4032" y="672"/>
              <a:ext cx="62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83" name="Line 35"/>
            <p:cNvSpPr>
              <a:spLocks noChangeShapeType="1"/>
            </p:cNvSpPr>
            <p:nvPr/>
          </p:nvSpPr>
          <p:spPr bwMode="auto">
            <a:xfrm>
              <a:off x="4656" y="76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84" name="Line 36"/>
            <p:cNvSpPr>
              <a:spLocks noChangeShapeType="1"/>
            </p:cNvSpPr>
            <p:nvPr/>
          </p:nvSpPr>
          <p:spPr bwMode="auto">
            <a:xfrm flipH="1">
              <a:off x="3744" y="7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685" name="Line 37"/>
          <p:cNvSpPr>
            <a:spLocks noChangeShapeType="1"/>
          </p:cNvSpPr>
          <p:nvPr/>
        </p:nvSpPr>
        <p:spPr bwMode="auto">
          <a:xfrm flipV="1">
            <a:off x="5257800" y="27289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686" name="Line 38"/>
          <p:cNvSpPr>
            <a:spLocks noChangeShapeType="1"/>
          </p:cNvSpPr>
          <p:nvPr/>
        </p:nvSpPr>
        <p:spPr bwMode="auto">
          <a:xfrm>
            <a:off x="5257800" y="33385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6705600" y="2500313"/>
            <a:ext cx="1143000" cy="381000"/>
            <a:chOff x="3936" y="2640"/>
            <a:chExt cx="720" cy="240"/>
          </a:xfrm>
        </p:grpSpPr>
        <p:sp>
          <p:nvSpPr>
            <p:cNvPr id="155688" name="AutoShape 40"/>
            <p:cNvSpPr>
              <a:spLocks noChangeArrowheads="1"/>
            </p:cNvSpPr>
            <p:nvPr/>
          </p:nvSpPr>
          <p:spPr bwMode="auto">
            <a:xfrm>
              <a:off x="4176" y="2640"/>
              <a:ext cx="288" cy="240"/>
            </a:xfrm>
            <a:prstGeom prst="homePlate">
              <a:avLst>
                <a:gd name="adj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689" name="Line 41"/>
            <p:cNvSpPr>
              <a:spLocks noChangeShapeType="1"/>
            </p:cNvSpPr>
            <p:nvPr/>
          </p:nvSpPr>
          <p:spPr bwMode="auto">
            <a:xfrm flipH="1">
              <a:off x="3936" y="27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690" name="Line 42"/>
            <p:cNvSpPr>
              <a:spLocks noChangeShapeType="1"/>
            </p:cNvSpPr>
            <p:nvPr/>
          </p:nvSpPr>
          <p:spPr bwMode="auto">
            <a:xfrm>
              <a:off x="4464" y="27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691" name="Text Box 43"/>
          <p:cNvSpPr txBox="1">
            <a:spLocks noChangeArrowheads="1"/>
          </p:cNvSpPr>
          <p:nvPr/>
        </p:nvSpPr>
        <p:spPr bwMode="auto">
          <a:xfrm>
            <a:off x="1143000" y="2195513"/>
            <a:ext cx="719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IPort</a:t>
            </a:r>
          </a:p>
        </p:txBody>
      </p:sp>
      <p:sp>
        <p:nvSpPr>
          <p:cNvPr id="155692" name="Text Box 44"/>
          <p:cNvSpPr txBox="1">
            <a:spLocks noChangeArrowheads="1"/>
          </p:cNvSpPr>
          <p:nvPr/>
        </p:nvSpPr>
        <p:spPr bwMode="auto">
          <a:xfrm>
            <a:off x="2744788" y="2776538"/>
            <a:ext cx="663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Mux</a:t>
            </a:r>
          </a:p>
        </p:txBody>
      </p:sp>
      <p:sp>
        <p:nvSpPr>
          <p:cNvPr id="155693" name="Text Box 45"/>
          <p:cNvSpPr txBox="1">
            <a:spLocks noChangeArrowheads="1"/>
          </p:cNvSpPr>
          <p:nvPr/>
        </p:nvSpPr>
        <p:spPr bwMode="auto">
          <a:xfrm>
            <a:off x="4038600" y="2700338"/>
            <a:ext cx="989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Demux</a:t>
            </a:r>
          </a:p>
        </p:txBody>
      </p:sp>
      <p:sp>
        <p:nvSpPr>
          <p:cNvPr id="155694" name="Text Box 46"/>
          <p:cNvSpPr txBox="1">
            <a:spLocks noChangeArrowheads="1"/>
          </p:cNvSpPr>
          <p:nvPr/>
        </p:nvSpPr>
        <p:spPr bwMode="auto">
          <a:xfrm>
            <a:off x="1135063" y="3398838"/>
            <a:ext cx="719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IPort</a:t>
            </a:r>
          </a:p>
        </p:txBody>
      </p:sp>
      <p:sp>
        <p:nvSpPr>
          <p:cNvPr id="155695" name="Text Box 47"/>
          <p:cNvSpPr txBox="1">
            <a:spLocks noChangeArrowheads="1"/>
          </p:cNvSpPr>
          <p:nvPr/>
        </p:nvSpPr>
        <p:spPr bwMode="auto">
          <a:xfrm>
            <a:off x="6934200" y="2119313"/>
            <a:ext cx="846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OPort</a:t>
            </a:r>
          </a:p>
        </p:txBody>
      </p:sp>
      <p:sp>
        <p:nvSpPr>
          <p:cNvPr id="155696" name="Text Box 48"/>
          <p:cNvSpPr txBox="1">
            <a:spLocks noChangeArrowheads="1"/>
          </p:cNvSpPr>
          <p:nvPr/>
        </p:nvSpPr>
        <p:spPr bwMode="auto">
          <a:xfrm>
            <a:off x="6934200" y="3170238"/>
            <a:ext cx="846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OPort</a:t>
            </a:r>
          </a:p>
        </p:txBody>
      </p:sp>
      <p:sp>
        <p:nvSpPr>
          <p:cNvPr id="155697" name="Text Box 49"/>
          <p:cNvSpPr txBox="1">
            <a:spLocks noChangeArrowheads="1"/>
          </p:cNvSpPr>
          <p:nvPr/>
        </p:nvSpPr>
        <p:spPr bwMode="auto">
          <a:xfrm>
            <a:off x="5562600" y="3246438"/>
            <a:ext cx="860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Buffer</a:t>
            </a:r>
          </a:p>
        </p:txBody>
      </p:sp>
      <p:sp>
        <p:nvSpPr>
          <p:cNvPr id="155698" name="Text Box 50"/>
          <p:cNvSpPr txBox="1">
            <a:spLocks noChangeArrowheads="1"/>
          </p:cNvSpPr>
          <p:nvPr/>
        </p:nvSpPr>
        <p:spPr bwMode="auto">
          <a:xfrm>
            <a:off x="5562600" y="2255838"/>
            <a:ext cx="860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>
                <a:latin typeface="Arial" charset="0"/>
                <a:cs typeface="Times New Roman" pitchFamily="18" charset="0"/>
              </a:rPr>
              <a:t>Buffer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1705</TotalTime>
  <Words>1443</Words>
  <Application>Microsoft Office PowerPoint</Application>
  <PresentationFormat>On-screen Show (4:3)</PresentationFormat>
  <Paragraphs>253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Gill Sans MT</vt:lpstr>
      <vt:lpstr>Verdana</vt:lpstr>
      <vt:lpstr>Wingdings 2</vt:lpstr>
      <vt:lpstr>Solstice</vt:lpstr>
      <vt:lpstr> EE 690: Interconnection Network for HPC Systems Introduction to YACSIM/NETSIM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United States Geological Survey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 2007  EE 461A/561A: Digital Systems and Computer Design</dc:title>
  <dc:creator>avinash</dc:creator>
  <cp:lastModifiedBy>Karanth, Avinash</cp:lastModifiedBy>
  <cp:revision>188</cp:revision>
  <dcterms:created xsi:type="dcterms:W3CDTF">2007-09-03T22:07:06Z</dcterms:created>
  <dcterms:modified xsi:type="dcterms:W3CDTF">2020-10-21T14:35:29Z</dcterms:modified>
</cp:coreProperties>
</file>